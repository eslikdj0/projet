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Azs789e7rOD4jMR4tTJyad9Vm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474600" cy="51435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74320" y="457200"/>
            <a:ext cx="2926080" cy="2926080"/>
          </a:xfrm>
          <a:prstGeom prst="ellipse">
            <a:avLst/>
          </a:prstGeom>
          <a:solidFill>
            <a:srgbClr val="1DB954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822960"/>
            <a:ext cx="2194560" cy="2194560"/>
          </a:xfrm>
          <a:prstGeom prst="ellipse">
            <a:avLst/>
          </a:prstGeom>
          <a:solidFill>
            <a:srgbClr val="1DB954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97280" y="118872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🎵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" y="3657600"/>
            <a:ext cx="2834640" cy="347472"/>
          </a:xfrm>
          <a:prstGeom prst="roundRect">
            <a:avLst>
              <a:gd fmla="val 15789" name="adj"/>
            </a:avLst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20040" y="36576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HETIC MD4 · Data Science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749040" y="91440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Analyse des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Titres Spotify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749040" y="2834640"/>
            <a:ext cx="5120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Quels attributs audio caractérisent les titres populaires 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 popularité est-elle prédictible 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Dataset Spotify · 114 000 titres · 114 genres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20040" y="192024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49808" y="91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49808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Mission &amp; Objectifs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868680"/>
            <a:ext cx="4114800" cy="3931920"/>
          </a:xfrm>
          <a:prstGeom prst="roundRect">
            <a:avLst>
              <a:gd fmla="val 2326" name="adj"/>
            </a:avLst>
          </a:prstGeom>
          <a:solidFill>
            <a:srgbClr val="161B22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02920" y="1005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Notre mission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146304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tant qu'analyste data pour un label de musique, notre équipe marketing souhaite comprendre quels attributs audio caractérisent les titres populaires.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Peut-on prédire la popularité d'un titre à partir de ses seules caractéristiques sonores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54880" y="914400"/>
            <a:ext cx="3931920" cy="1051560"/>
          </a:xfrm>
          <a:prstGeom prst="roundRect">
            <a:avLst>
              <a:gd fmla="val 6957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892040" y="1005840"/>
            <a:ext cx="548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532120" y="98755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Explorer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532120" y="135331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Comprendre la distribution et les profils audio du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754880" y="2148840"/>
            <a:ext cx="3931920" cy="1051560"/>
          </a:xfrm>
          <a:prstGeom prst="roundRect">
            <a:avLst>
              <a:gd fmla="val 6957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892040" y="2240280"/>
            <a:ext cx="548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532120" y="222199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Modéliser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532120" y="258775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Construire des variables et régressions prédictives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3383280"/>
            <a:ext cx="3931920" cy="1051560"/>
          </a:xfrm>
          <a:prstGeom prst="roundRect">
            <a:avLst>
              <a:gd fmla="val 6957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892040" y="3474720"/>
            <a:ext cx="548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532120" y="345643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Recommander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532120" y="38221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Formuler des actions concrètes pour le label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Approche : EDA · Feature Engineering · Régression linéaire · ACP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20040" y="192024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49808" y="91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Présentation des Données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49808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Dataset · Variables · Qualité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4320" y="804672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47472" y="896112"/>
            <a:ext cx="1773936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114 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47472" y="1408176"/>
            <a:ext cx="1773936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Titres dans le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423160" y="804672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496312" y="896112"/>
            <a:ext cx="1773936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114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496312" y="1408176"/>
            <a:ext cx="1773936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Genres musicaux couverts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0" y="804672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645152" y="896112"/>
            <a:ext cx="1773936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645152" y="1408176"/>
            <a:ext cx="1773936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Variables par titre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720840" y="804672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793992" y="896112"/>
            <a:ext cx="1773936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&lt; 0.1%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793992" y="1408176"/>
            <a:ext cx="1773936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Valeurs manquantes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74320" y="2011680"/>
            <a:ext cx="4114800" cy="1371600"/>
          </a:xfrm>
          <a:prstGeom prst="roundRect">
            <a:avLst>
              <a:gd fmla="val 533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11480" y="2103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📊 Variables numériques continues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11480" y="24871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danceability · energy · valence · tempo · loudness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11480" y="283464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acousticness · instrumentalness · liveness · speechiness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09160" y="2011680"/>
            <a:ext cx="4114800" cy="1371600"/>
          </a:xfrm>
          <a:prstGeom prst="roundRect">
            <a:avLst>
              <a:gd fmla="val 533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846320" y="2103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🏷️ Variables catégorielles &amp; booléenne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846320" y="24871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track_genre (114 modalités)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846320" y="283464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mode · key · time_signature · explicit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4320" y="3611880"/>
            <a:ext cx="8595360" cy="1371600"/>
          </a:xfrm>
          <a:prstGeom prst="roundRect">
            <a:avLst>
              <a:gd fmla="val 533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11480" y="370332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🎯 Variable cible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11480" y="4087368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popularity : score 0–100 calculé par Spotify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11480" y="443484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Basé sur les streams (récents = favorisés)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20040" y="192024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49808" y="91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49808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3 variables créées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" y="822960"/>
            <a:ext cx="8595360" cy="1280160"/>
          </a:xfrm>
          <a:prstGeom prst="roundRect">
            <a:avLst>
              <a:gd fmla="val 5714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65760" y="914400"/>
            <a:ext cx="640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097280" y="93268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duration_min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9728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duration_ms ÷ 60 000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349240" y="960120"/>
            <a:ext cx="18288" cy="10058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486400" y="9144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Durée médiane : 3,6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0" y="132588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Correspondance parfaite avec le format radio/streaming. Quelques outliers &gt; 15 min (lives, ambient) représentant moins de 1% des titres.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2240280"/>
            <a:ext cx="8595360" cy="1280160"/>
          </a:xfrm>
          <a:prstGeom prst="roundRect">
            <a:avLst>
              <a:gd fmla="val 5714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65760" y="2331720"/>
            <a:ext cx="640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097280" y="23500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popularite_cat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097280" y="26974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Découpage en 4 tranches : Faible · Moyenne · Élevée · Virale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349240" y="2377440"/>
            <a:ext cx="18288" cy="10058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486400" y="23317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55% des titres → catégorie Faible (0-25)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0" y="27432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Répartition très déséquilibrée : les vrais hits (Virale &gt; 76) sont extrêmement rares. Reflète la réalité de l'écosystème streaming.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74320" y="3657600"/>
            <a:ext cx="8595360" cy="1280160"/>
          </a:xfrm>
          <a:prstGeom prst="roundRect">
            <a:avLst>
              <a:gd fmla="val 5714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65760" y="3749040"/>
            <a:ext cx="640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97280" y="376732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energie_globale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97280" y="41148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0.40 × energy  +  0.25 × danceability  +  0.20 × valence  +  0.15 × loudness_norm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349240" y="3794760"/>
            <a:ext cx="18288" cy="10058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486400" y="3749040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Titres explicites +0.06 pts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 rapport aux non explicites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0" y="416052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Les titres explicites ont généralement un score d'énergie plus élevé que les titres non explicites.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20040" y="192024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49808" y="91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 1 — Distribution de la Popularité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49808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Analyse univariée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74320" y="822960"/>
            <a:ext cx="4114800" cy="3977700"/>
          </a:xfrm>
          <a:prstGeom prst="roundRect">
            <a:avLst>
              <a:gd fmla="val 2299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📈 Constat principal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" y="1371600"/>
            <a:ext cx="3749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distribution est fortement asymétrique à droite avec un pic massif à popularité = 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175" y="3678503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Répartition par tranche de popularité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2286000"/>
            <a:ext cx="548700" cy="1188600"/>
          </a:xfrm>
          <a:prstGeom prst="roundRect">
            <a:avLst>
              <a:gd fmla="val 6667" name="adj"/>
            </a:avLst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57200" y="2011680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35204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0-25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97275" y="2428926"/>
            <a:ext cx="548700" cy="1045800"/>
          </a:xfrm>
          <a:prstGeom prst="roundRect">
            <a:avLst>
              <a:gd fmla="val 6667" name="adj"/>
            </a:avLst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097280" y="2194559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r>
              <a:rPr b="1" i="0" lang="en-US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97280" y="35204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26-50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737350" y="2788923"/>
            <a:ext cx="548700" cy="685800"/>
          </a:xfrm>
          <a:prstGeom prst="roundRect">
            <a:avLst>
              <a:gd fmla="val 6667" name="adj"/>
            </a:avLst>
          </a:prstGeom>
          <a:solidFill>
            <a:srgbClr val="17A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737360" y="2532884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24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7A248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b="1" i="0" lang="en-US" sz="1000" u="none" cap="none" strike="noStrike">
                <a:solidFill>
                  <a:srgbClr val="17A248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737360" y="35204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51-75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377450" y="3369196"/>
            <a:ext cx="548700" cy="105600"/>
          </a:xfrm>
          <a:prstGeom prst="roundRect">
            <a:avLst>
              <a:gd fmla="val 6667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2377440" y="3113294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377440" y="35204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76-100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411480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Biais de collecte : les titres anciens ou peu streamés voient leur score décroître dans le temps.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709160" y="822960"/>
            <a:ext cx="4114800" cy="1097280"/>
          </a:xfrm>
          <a:prstGeom prst="roundRect">
            <a:avLst>
              <a:gd fmla="val 6667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782312" y="914400"/>
            <a:ext cx="39684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39 </a:t>
            </a:r>
            <a:r>
              <a:rPr b="1" i="0" lang="en-US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782312" y="1481328"/>
            <a:ext cx="3968496" cy="41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des titres ont une popularité</a:t>
            </a: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faible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709160" y="2194560"/>
            <a:ext cx="4114800" cy="1097280"/>
          </a:xfrm>
          <a:prstGeom prst="roundRect">
            <a:avLst>
              <a:gd fmla="val 6667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782312" y="2286000"/>
            <a:ext cx="39684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&lt; </a:t>
            </a:r>
            <a:r>
              <a:rPr b="1" i="0" lang="en-US" sz="28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28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 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82312" y="2852928"/>
            <a:ext cx="3968496" cy="41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des titres dépassent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/100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709160" y="3566160"/>
            <a:ext cx="4114800" cy="1097280"/>
          </a:xfrm>
          <a:prstGeom prst="roundRect">
            <a:avLst>
              <a:gd fmla="val 6667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782312" y="3657600"/>
            <a:ext cx="39684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28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782312" y="4224528"/>
            <a:ext cx="3968496" cy="41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Score moyen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(médiane : 35)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20040" y="192024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749808" y="91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 2 — Corrélations Audio &amp; Popularité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49808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Analyses bivariées · Pearson vs Spearman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Quels attributs audio sont liés à la popularité 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74320" y="114300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Corrélations de Pearson avec la popularité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74320" y="14813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loudness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377450" y="1554475"/>
            <a:ext cx="2011800" cy="201300"/>
          </a:xfrm>
          <a:prstGeom prst="roundRect">
            <a:avLst>
              <a:gd fmla="val 1818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2377440" y="1554480"/>
            <a:ext cx="1554480" cy="201168"/>
          </a:xfrm>
          <a:prstGeom prst="roundRect">
            <a:avLst>
              <a:gd fmla="val 18182" name="adj"/>
            </a:avLst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526280" y="14813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+0.17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74320" y="19019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danceability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377325" y="1975100"/>
            <a:ext cx="2011800" cy="201300"/>
          </a:xfrm>
          <a:prstGeom prst="roundRect">
            <a:avLst>
              <a:gd fmla="val 1818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377440" y="1975104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526280" y="190195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+0.10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74320" y="23225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377325" y="2395725"/>
            <a:ext cx="2011800" cy="201300"/>
          </a:xfrm>
          <a:prstGeom prst="roundRect">
            <a:avLst>
              <a:gd fmla="val 1818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2377440" y="2395728"/>
            <a:ext cx="640080" cy="201168"/>
          </a:xfrm>
          <a:prstGeom prst="roundRect">
            <a:avLst>
              <a:gd fmla="val 18182" name="adj"/>
            </a:avLst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526280" y="2322576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+0.07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74320" y="27432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377325" y="2816350"/>
            <a:ext cx="2011800" cy="201300"/>
          </a:xfrm>
          <a:prstGeom prst="roundRect">
            <a:avLst>
              <a:gd fmla="val 1818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2377440" y="2816352"/>
            <a:ext cx="274320" cy="201168"/>
          </a:xfrm>
          <a:prstGeom prst="roundRect">
            <a:avLst>
              <a:gd fmla="val 18182" name="adj"/>
            </a:avLst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526280" y="2743200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+0.03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74320" y="31638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speechiness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286000" y="3236976"/>
            <a:ext cx="2103120" cy="201168"/>
          </a:xfrm>
          <a:prstGeom prst="roundRect">
            <a:avLst>
              <a:gd fmla="val 1818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2011680" y="3236976"/>
            <a:ext cx="365760" cy="201168"/>
          </a:xfrm>
          <a:prstGeom prst="roundRect">
            <a:avLst>
              <a:gd fmla="val 18182" name="adj"/>
            </a:avLst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526280" y="3163824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-0.04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74320" y="35844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acousticness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286000" y="3657600"/>
            <a:ext cx="2103120" cy="201168"/>
          </a:xfrm>
          <a:prstGeom prst="roundRect">
            <a:avLst>
              <a:gd fmla="val 1818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645920" y="3657600"/>
            <a:ext cx="731520" cy="201168"/>
          </a:xfrm>
          <a:prstGeom prst="roundRect">
            <a:avLst>
              <a:gd fmla="val 18182" name="adj"/>
            </a:avLst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526280" y="358444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-0.08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74320" y="40050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instrumentalness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286000" y="4078224"/>
            <a:ext cx="2103120" cy="201168"/>
          </a:xfrm>
          <a:prstGeom prst="roundRect">
            <a:avLst>
              <a:gd fmla="val 1818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1287500" y="4078225"/>
            <a:ext cx="1089900" cy="201300"/>
          </a:xfrm>
          <a:prstGeom prst="roundRect">
            <a:avLst>
              <a:gd fmla="val 18182" name="adj"/>
            </a:avLst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526280" y="400507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-0.18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120640" y="1143000"/>
            <a:ext cx="3749040" cy="1920240"/>
          </a:xfrm>
          <a:prstGeom prst="roundRect">
            <a:avLst>
              <a:gd fmla="val 4762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5303520" y="126187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🔬  Pearson vs Spearman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303525" y="1788745"/>
            <a:ext cx="3383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 instrumentalness, l'écart Pearson/Spearman est le plus marqué.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120640" y="3182112"/>
            <a:ext cx="3749040" cy="1645920"/>
          </a:xfrm>
          <a:prstGeom prst="roundRect">
            <a:avLst>
              <a:gd fmla="val 5556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5303520" y="3291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🎸  Profil populaire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303520" y="3703320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loudness élevé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303520" y="404164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danceability + energy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303520" y="4379976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instrumentalness faible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20040" y="192024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49808" y="91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 3 — Régression &amp; ACP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49808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Modélisation · Réduction dimensionnelle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74320" y="822960"/>
            <a:ext cx="4114800" cy="3977640"/>
          </a:xfrm>
          <a:prstGeom prst="roundRect">
            <a:avLst>
              <a:gd fmla="val 2299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📐  Régression linéaire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57200" y="1371600"/>
            <a:ext cx="3749040" cy="54864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94360" y="1426464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R² modèle simple (1 var)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926080" y="1426464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~0.0</a:t>
            </a:r>
            <a:r>
              <a:rPr b="1" lang="en-US" sz="16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7200" y="2029968"/>
            <a:ext cx="3749040" cy="54864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94360" y="2084832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R² modèle multiple (8 vars)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926080" y="2084832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i="0" lang="en-US" sz="16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6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57200" y="2688336"/>
            <a:ext cx="3749040" cy="54864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94360" y="274320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MAE modèle multiple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926080" y="274320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~18 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7200" y="3383280"/>
            <a:ext cx="3749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facteur le plus pénalisant : instrumentalness (coeff. négatif fort).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plus favorable : loudness.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Limites : sous-prédiction systématique des vrais hits (&gt; 70).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663440" y="822960"/>
            <a:ext cx="4206240" cy="3977640"/>
          </a:xfrm>
          <a:prstGeom prst="roundRect">
            <a:avLst>
              <a:gd fmla="val 2299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846320" y="9144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🔭  Analyse en Composantes Principales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846320" y="14173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→  6 composantes expliquent 80% de la variance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846320" y="175564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CP1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376672" y="1837944"/>
            <a:ext cx="2286000" cy="182880"/>
          </a:xfrm>
          <a:prstGeom prst="roundRect">
            <a:avLst>
              <a:gd fmla="val 2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376672" y="1837944"/>
            <a:ext cx="1920240" cy="182880"/>
          </a:xfrm>
          <a:prstGeom prst="roundRect">
            <a:avLst>
              <a:gd fmla="val 20000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754112" y="175564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%  Énergie vs Acoustique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846320" y="21579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CP2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376672" y="2240280"/>
            <a:ext cx="2286000" cy="182880"/>
          </a:xfrm>
          <a:prstGeom prst="roundRect">
            <a:avLst>
              <a:gd fmla="val 2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376672" y="2240280"/>
            <a:ext cx="1280160" cy="182880"/>
          </a:xfrm>
          <a:prstGeom prst="roundRect">
            <a:avLst>
              <a:gd fmla="val 20000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754112" y="2157984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%  Positivité vs Parole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846320" y="256032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CP3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376672" y="2642616"/>
            <a:ext cx="2286000" cy="182880"/>
          </a:xfrm>
          <a:prstGeom prst="roundRect">
            <a:avLst>
              <a:gd fmla="val 2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376672" y="2642616"/>
            <a:ext cx="1005840" cy="182880"/>
          </a:xfrm>
          <a:prstGeom prst="roundRect">
            <a:avLst>
              <a:gd fmla="val 20000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846320" y="2962656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CP4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376672" y="3044952"/>
            <a:ext cx="2286000" cy="182880"/>
          </a:xfrm>
          <a:prstGeom prst="roundRect">
            <a:avLst>
              <a:gd fmla="val 2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5376672" y="3044952"/>
            <a:ext cx="822960" cy="182880"/>
          </a:xfrm>
          <a:prstGeom prst="roundRect">
            <a:avLst>
              <a:gd fmla="val 20000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4846320" y="336499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CP5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376672" y="3447288"/>
            <a:ext cx="2286000" cy="182880"/>
          </a:xfrm>
          <a:prstGeom prst="roundRect">
            <a:avLst>
              <a:gd fmla="val 2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376672" y="3447288"/>
            <a:ext cx="731520" cy="182880"/>
          </a:xfrm>
          <a:prstGeom prst="roundRect">
            <a:avLst>
              <a:gd fmla="val 20000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846320" y="376732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CP6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376672" y="3849624"/>
            <a:ext cx="2286000" cy="182880"/>
          </a:xfrm>
          <a:prstGeom prst="roundRect">
            <a:avLst>
              <a:gd fmla="val 2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5376672" y="3849624"/>
            <a:ext cx="640080" cy="182880"/>
          </a:xfrm>
          <a:prstGeom prst="roundRect">
            <a:avLst>
              <a:gd fmla="val 20000" name="adj"/>
            </a:avLst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846320" y="4160520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Classique se positionne en CP1 négatif (acoustique), électronique en CP1 positif, hip-hop en CP2 positif.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7754108" y="2560225"/>
            <a:ext cx="2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754108" y="2958125"/>
            <a:ext cx="2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754108" y="3360375"/>
            <a:ext cx="2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7754108" y="3707775"/>
            <a:ext cx="2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320040" y="192024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749808" y="91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Synthèse &amp; Recommandations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49808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Pour le label de musique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74320" y="804672"/>
            <a:ext cx="8595360" cy="1170432"/>
          </a:xfrm>
          <a:prstGeom prst="roundRect">
            <a:avLst>
              <a:gd fmla="val 781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384048" y="1005840"/>
            <a:ext cx="658368" cy="658368"/>
          </a:xfrm>
          <a:prstGeom prst="ellipse">
            <a:avLst/>
          </a:prstGeom>
          <a:solidFill>
            <a:srgbClr val="1DB95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384048" y="10058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207008" y="89611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Miser sur les titres chantés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207008" y="1261872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Les titres avec instrumentalness &lt; 0.05 obtiennent en moyenne 12 points de plus. La voix principale est un signal fort pour les algorithmes Spotify (Discover Weekly, Radio).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349240" y="1152144"/>
            <a:ext cx="3291840" cy="475488"/>
          </a:xfrm>
          <a:prstGeom prst="roundRect">
            <a:avLst>
              <a:gd fmla="val 1538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440680" y="1152144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📌  +12 pts de popularité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74320" y="2103120"/>
            <a:ext cx="8595360" cy="1170432"/>
          </a:xfrm>
          <a:prstGeom prst="roundRect">
            <a:avLst>
              <a:gd fmla="val 781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384048" y="2304288"/>
            <a:ext cx="658368" cy="658368"/>
          </a:xfrm>
          <a:prstGeom prst="ellipse">
            <a:avLst/>
          </a:prstGeom>
          <a:solidFill>
            <a:srgbClr val="58A6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84048" y="230428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207008" y="219456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Cibler les genres à forte popularité médiane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207008" y="25603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Ces genres offrent un plancher de popularité plus élevé. Pour les genres de niche, une stratégie de crossover (collab pop, remix dance) booste l'exposition algorithmique.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349240" y="2450592"/>
            <a:ext cx="3291840" cy="475488"/>
          </a:xfrm>
          <a:prstGeom prst="roundRect">
            <a:avLst>
              <a:gd fmla="val 1538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440680" y="2450592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📌  Pop · Hip-hop · Dance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274320" y="3401568"/>
            <a:ext cx="8595360" cy="1170432"/>
          </a:xfrm>
          <a:prstGeom prst="roundRect">
            <a:avLst>
              <a:gd fmla="val 7813" name="adj"/>
            </a:avLst>
          </a:prstGeom>
          <a:solidFill>
            <a:srgbClr val="1C2128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384048" y="3602736"/>
            <a:ext cx="658368" cy="658368"/>
          </a:xfrm>
          <a:prstGeom prst="ellipse">
            <a:avLst/>
          </a:prstGeom>
          <a:solidFill>
            <a:srgbClr val="F39C12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384048" y="3602736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207008" y="349300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Optimiser le profil dansant et énergique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1207008" y="3858768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Les titres à forte danceability et energy génèrent plus de replay et d'ajouts en playlist personnelle, deux signaux que Spotify intègre dans son algorithme de popularité.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349240" y="3749040"/>
            <a:ext cx="3291840" cy="475488"/>
          </a:xfrm>
          <a:prstGeom prst="roundRect">
            <a:avLst>
              <a:gd fmla="val 1538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5440680" y="374904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📌  danceability &gt; 0.70 · tempo 95–125 BPM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74320" y="4681728"/>
            <a:ext cx="8595360" cy="347472"/>
          </a:xfrm>
          <a:prstGeom prst="roundRect">
            <a:avLst>
              <a:gd fmla="val 15789" name="adj"/>
            </a:avLst>
          </a:prstGeom>
          <a:solidFill>
            <a:srgbClr val="1A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411480" y="469087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⚠️  Limite : les attributs audio n'expliquent que ~</a:t>
            </a:r>
            <a:r>
              <a:rPr lang="en-US" sz="10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% de la variance</a:t>
            </a:r>
            <a:r>
              <a:rPr lang="en-US" sz="10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. L</a:t>
            </a:r>
            <a:r>
              <a:rPr b="0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e marketing, les playlists éditoriales et les signaux sociaux (TikTok) restent déterminants.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2026-06-24T08:43:50Z</dcterms:created>
  <dc:creator>PptxGenJS</dc:creator>
</cp:coreProperties>
</file>